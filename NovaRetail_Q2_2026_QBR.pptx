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deck_title"/>
          <p:cNvSpPr txBox="1"/>
          <p:nvPr/>
        </p:nvSpPr>
        <p:spPr>
          <a:xfrm>
            <a:off x="548640" y="457200"/>
            <a:ext cx="11091672"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NovaRetail — Quarterly Business Review</a:t>
            </a:r>
            <a:endParaRPr lang="en-US" sz="3200" dirty="0"/>
          </a:p>
        </p:txBody>
      </p:sp>
      <p:sp>
        <p:nvSpPr>
          <p:cNvPr id="3" name="subtitle_1"/>
          <p:cNvSpPr txBox="1"/>
          <p:nvPr/>
        </p:nvSpPr>
        <p:spPr>
          <a:xfrm>
            <a:off x="548640" y="1078992"/>
            <a:ext cx="11091672" cy="365760"/>
          </a:xfrm>
          <a:prstGeom prst="rect">
            <a:avLst/>
          </a:prstGeom>
          <a:noFill/>
          <a:ln/>
        </p:spPr>
        <p:txBody>
          <a:bodyPr wrap="square" lIns="0" tIns="0" rIns="0" bIns="0" rtlCol="0" anchor="ctr"/>
          <a:lstStyle/>
          <a:p>
            <a:pPr algn="l" indent="0" marL="0">
              <a:buNone/>
            </a:pPr>
            <a:r>
              <a:rPr sz="1600" b="0">
                <a:solidFill>
                  <a:srgbClr val="E6EAF5"/>
                </a:solidFill>
              </a:rPr>
              <a:t>Q2 2026 | Quarterly Business Review</a:t>
            </a:r>
            <a:endParaRPr lang="en-US" sz="1500" dirty="0"/>
          </a:p>
        </p:txBody>
      </p:sp>
      <p:sp>
        <p:nvSpPr>
          <p:cNvPr id="4" name="kpi1_box"/>
          <p:cNvSpPr/>
          <p:nvPr/>
        </p:nvSpPr>
        <p:spPr>
          <a:xfrm>
            <a:off x="548640" y="1874520"/>
            <a:ext cx="3453384" cy="1417320"/>
          </a:xfrm>
          <a:prstGeom prst="roundRect">
            <a:avLst>
              <a:gd name="adj" fmla="val 3871"/>
            </a:avLst>
          </a:prstGeom>
          <a:solidFill>
            <a:srgbClr val="14193F"/>
          </a:solidFill>
          <a:ln/>
        </p:spPr>
      </p:sp>
      <p:sp>
        <p:nvSpPr>
          <p:cNvPr id="5" name="kpi1_value"/>
          <p:cNvSpPr txBox="1"/>
          <p:nvPr/>
        </p:nvSpPr>
        <p:spPr>
          <a:xfrm>
            <a:off x="685800" y="2039112"/>
            <a:ext cx="3179064" cy="640080"/>
          </a:xfrm>
          <a:prstGeom prst="rect">
            <a:avLst/>
          </a:prstGeom>
          <a:noFill/>
          <a:ln/>
        </p:spPr>
        <p:txBody>
          <a:bodyPr wrap="square" lIns="0" tIns="0" rIns="0" bIns="0" rtlCol="0" anchor="ctr"/>
          <a:lstStyle/>
          <a:p>
            <a:pPr algn="ctr" indent="0" marL="0">
              <a:buNone/>
            </a:pPr>
            <a:r>
              <a:rPr sz="2600" b="1">
                <a:solidFill>
                  <a:srgbClr val="FFFFFF"/>
                </a:solidFill>
              </a:rPr>
              <a:t>$1.28B</a:t>
            </a:r>
            <a:endParaRPr lang="en-US" sz="3200" dirty="0"/>
          </a:p>
        </p:txBody>
      </p:sp>
      <p:sp>
        <p:nvSpPr>
          <p:cNvPr id="6" name="kpi1_label"/>
          <p:cNvSpPr txBox="1"/>
          <p:nvPr/>
        </p:nvSpPr>
        <p:spPr>
          <a:xfrm>
            <a:off x="685800" y="2743200"/>
            <a:ext cx="3179064" cy="502920"/>
          </a:xfrm>
          <a:prstGeom prst="rect">
            <a:avLst/>
          </a:prstGeom>
          <a:noFill/>
          <a:ln/>
        </p:spPr>
        <p:txBody>
          <a:bodyPr wrap="square" lIns="0" tIns="0" rIns="0" bIns="0" rtlCol="0" anchor="ctr"/>
          <a:lstStyle/>
          <a:p>
            <a:pPr algn="ctr" indent="0" marL="0">
              <a:buNone/>
            </a:pPr>
            <a:r>
              <a:rPr sz="1300" b="0">
                <a:solidFill>
                  <a:srgbClr val="E6EAF5"/>
                </a:solidFill>
              </a:rPr>
              <a:t>Total Revenue</a:t>
            </a:r>
            <a:endParaRPr lang="en-US" sz="1100" dirty="0"/>
          </a:p>
        </p:txBody>
      </p:sp>
      <p:sp>
        <p:nvSpPr>
          <p:cNvPr id="7" name="kpi2_box"/>
          <p:cNvSpPr/>
          <p:nvPr/>
        </p:nvSpPr>
        <p:spPr>
          <a:xfrm>
            <a:off x="4367784" y="1874520"/>
            <a:ext cx="3453384" cy="1417320"/>
          </a:xfrm>
          <a:prstGeom prst="roundRect">
            <a:avLst>
              <a:gd name="adj" fmla="val 3871"/>
            </a:avLst>
          </a:prstGeom>
          <a:solidFill>
            <a:srgbClr val="14193F"/>
          </a:solidFill>
          <a:ln/>
        </p:spPr>
      </p:sp>
      <p:sp>
        <p:nvSpPr>
          <p:cNvPr id="8" name="kpi2_value"/>
          <p:cNvSpPr txBox="1"/>
          <p:nvPr/>
        </p:nvSpPr>
        <p:spPr>
          <a:xfrm>
            <a:off x="4504944" y="2039112"/>
            <a:ext cx="3179064" cy="640080"/>
          </a:xfrm>
          <a:prstGeom prst="rect">
            <a:avLst/>
          </a:prstGeom>
          <a:noFill/>
          <a:ln/>
        </p:spPr>
        <p:txBody>
          <a:bodyPr wrap="square" lIns="0" tIns="0" rIns="0" bIns="0" rtlCol="0" anchor="ctr"/>
          <a:lstStyle/>
          <a:p>
            <a:pPr algn="ctr" indent="0" marL="0">
              <a:buNone/>
            </a:pPr>
            <a:r>
              <a:rPr sz="2600" b="1">
                <a:solidFill>
                  <a:srgbClr val="FFFFFF"/>
                </a:solidFill>
              </a:rPr>
              <a:t>+4.5%</a:t>
            </a:r>
            <a:endParaRPr lang="en-US" sz="3200" dirty="0"/>
          </a:p>
        </p:txBody>
      </p:sp>
      <p:sp>
        <p:nvSpPr>
          <p:cNvPr id="9" name="kpi2_label"/>
          <p:cNvSpPr txBox="1"/>
          <p:nvPr/>
        </p:nvSpPr>
        <p:spPr>
          <a:xfrm>
            <a:off x="4504944" y="2743200"/>
            <a:ext cx="3179064" cy="502920"/>
          </a:xfrm>
          <a:prstGeom prst="rect">
            <a:avLst/>
          </a:prstGeom>
          <a:noFill/>
          <a:ln/>
        </p:spPr>
        <p:txBody>
          <a:bodyPr wrap="square" lIns="0" tIns="0" rIns="0" bIns="0" rtlCol="0" anchor="ctr"/>
          <a:lstStyle/>
          <a:p>
            <a:pPr algn="ctr" indent="0" marL="0">
              <a:buNone/>
            </a:pPr>
            <a:r>
              <a:rPr sz="1300" b="0">
                <a:solidFill>
                  <a:srgbClr val="E6EAF5"/>
                </a:solidFill>
              </a:rPr>
              <a:t>QoQ Revenue Growth</a:t>
            </a:r>
            <a:endParaRPr lang="en-US" sz="1100" dirty="0"/>
          </a:p>
        </p:txBody>
      </p:sp>
      <p:sp>
        <p:nvSpPr>
          <p:cNvPr id="10" name="kpi3_box"/>
          <p:cNvSpPr/>
          <p:nvPr/>
        </p:nvSpPr>
        <p:spPr>
          <a:xfrm>
            <a:off x="8186928" y="1874520"/>
            <a:ext cx="3453384" cy="1417320"/>
          </a:xfrm>
          <a:prstGeom prst="roundRect">
            <a:avLst>
              <a:gd name="adj" fmla="val 3871"/>
            </a:avLst>
          </a:prstGeom>
          <a:solidFill>
            <a:srgbClr val="14193F"/>
          </a:solidFill>
          <a:ln/>
        </p:spPr>
      </p:sp>
      <p:sp>
        <p:nvSpPr>
          <p:cNvPr id="11" name="kpi3_value"/>
          <p:cNvSpPr txBox="1"/>
          <p:nvPr/>
        </p:nvSpPr>
        <p:spPr>
          <a:xfrm>
            <a:off x="8324088" y="2039112"/>
            <a:ext cx="3179064" cy="640080"/>
          </a:xfrm>
          <a:prstGeom prst="rect">
            <a:avLst/>
          </a:prstGeom>
          <a:noFill/>
          <a:ln/>
        </p:spPr>
        <p:txBody>
          <a:bodyPr wrap="square" lIns="0" tIns="0" rIns="0" bIns="0" rtlCol="0" anchor="ctr"/>
          <a:lstStyle/>
          <a:p>
            <a:pPr algn="ctr" indent="0" marL="0">
              <a:buNone/>
            </a:pPr>
            <a:r>
              <a:rPr sz="2600" b="1">
                <a:solidFill>
                  <a:srgbClr val="FFFFFF"/>
                </a:solidFill>
              </a:rPr>
              <a:t>53.2</a:t>
            </a:r>
            <a:endParaRPr lang="en-US" sz="3200" dirty="0"/>
          </a:p>
        </p:txBody>
      </p:sp>
      <p:sp>
        <p:nvSpPr>
          <p:cNvPr id="12" name="kpi3_label"/>
          <p:cNvSpPr txBox="1"/>
          <p:nvPr/>
        </p:nvSpPr>
        <p:spPr>
          <a:xfrm>
            <a:off x="8324088" y="2743200"/>
            <a:ext cx="3179064" cy="502920"/>
          </a:xfrm>
          <a:prstGeom prst="rect">
            <a:avLst/>
          </a:prstGeom>
          <a:noFill/>
          <a:ln/>
        </p:spPr>
        <p:txBody>
          <a:bodyPr wrap="square" lIns="0" tIns="0" rIns="0" bIns="0" rtlCol="0" anchor="ctr"/>
          <a:lstStyle/>
          <a:p>
            <a:pPr algn="ctr" indent="0" marL="0">
              <a:buNone/>
            </a:pPr>
            <a:r>
              <a:rPr sz="1300" b="0">
                <a:solidFill>
                  <a:srgbClr val="E6EAF5"/>
                </a:solidFill>
              </a:rPr>
              <a:t>Sales-Weighted NPS</a:t>
            </a:r>
            <a:endParaRPr lang="en-US" sz="1100" dirty="0"/>
          </a:p>
        </p:txBody>
      </p:sp>
      <p:sp>
        <p:nvSpPr>
          <p:cNvPr id="13" name="summary_label"/>
          <p:cNvSpPr txBox="1"/>
          <p:nvPr/>
        </p:nvSpPr>
        <p:spPr>
          <a:xfrm>
            <a:off x="548640" y="3520440"/>
            <a:ext cx="9235440" cy="365760"/>
          </a:xfrm>
          <a:prstGeom prst="rect">
            <a:avLst/>
          </a:prstGeom>
          <a:noFill/>
          <a:ln/>
        </p:spPr>
        <p:txBody>
          <a:bodyPr wrap="square" lIns="0" tIns="0" rIns="0" bIns="0" rtlCol="0" anchor="ctr"/>
          <a:lstStyle/>
          <a:p>
            <a:pPr algn="l" indent="0" marL="0">
              <a:buNone/>
            </a:pPr>
            <a:r>
              <a:rPr lang="en-US" sz="1300" b="1" spc="200" kern="0" dirty="0">
                <a:solidFill>
                  <a:srgbClr val="CADCFC"/>
                </a:solidFill>
                <a:latin typeface="Calibri" pitchFamily="34" charset="0"/>
                <a:ea typeface="Calibri" pitchFamily="34" charset="-122"/>
                <a:cs typeface="Calibri" pitchFamily="34" charset="-120"/>
              </a:rPr>
              <a:t>EXECUTIVE SUMMARY</a:t>
            </a:r>
            <a:endParaRPr lang="en-US" sz="1300" dirty="0"/>
          </a:p>
        </p:txBody>
      </p:sp>
      <p:sp>
        <p:nvSpPr>
          <p:cNvPr id="14" name="summary_text"/>
          <p:cNvSpPr txBox="1"/>
          <p:nvPr/>
        </p:nvSpPr>
        <p:spPr>
          <a:xfrm>
            <a:off x="548640" y="3886200"/>
            <a:ext cx="9235440" cy="2331720"/>
          </a:xfrm>
          <a:prstGeom prst="rect">
            <a:avLst/>
          </a:prstGeom>
          <a:noFill/>
          <a:ln/>
        </p:spPr>
        <p:txBody>
          <a:bodyPr wrap="square" lIns="0" tIns="0" rIns="0" bIns="0" rtlCol="0" anchor="t"/>
          <a:lstStyle/>
          <a:p>
            <a:pPr algn="l" indent="0" marL="0">
              <a:buNone/>
            </a:pPr>
            <a:r>
              <a:rPr sz="1500" b="0">
                <a:solidFill>
                  <a:srgbClr val="E6EAF5"/>
                </a:solidFill>
              </a:rPr>
              <a:t>NovaRetail generated $1.28B in Q2 revenue, representing 4.5% sequential growth. APAC delivered the strongest growth momentum and maintained the highest customer advocacy, while North America remained the largest revenue contributor. Latin America continued to contract as customer experience and operational risk deteriorated. APAC capacity also requires action to protect future growth.</a:t>
            </a:r>
            <a:endParaRPr lang="en-US" sz="1800" dirty="0"/>
          </a:p>
        </p:txBody>
      </p:sp>
      <p:sp>
        <p:nvSpPr>
          <p:cNvPr id="16" name="icon_1_label"/>
          <p:cNvSpPr txBox="1"/>
          <p:nvPr/>
        </p:nvSpPr>
        <p:spPr>
          <a:xfrm>
            <a:off x="10195560" y="4050792"/>
            <a:ext cx="1307592" cy="125272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ICON
</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Pick the icon that</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best represents this</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quarter's overall story</a:t>
            </a:r>
            <a:endParaRPr lang="en-US" sz="1300" dirty="0"/>
          </a:p>
        </p:txBody>
      </p:sp>
      <p:sp>
        <p:nvSpPr>
          <p:cNvPr id="17" name="footer_1"/>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9FB3E8"/>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18" name="page_num_1"/>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9FB3E8"/>
                </a:solidFill>
                <a:latin typeface="Calibri" pitchFamily="34" charset="0"/>
                <a:ea typeface="Calibri" pitchFamily="34" charset="-122"/>
                <a:cs typeface="Calibri" pitchFamily="34" charset="-120"/>
              </a:rPr>
              <a:t>1</a:t>
            </a:r>
            <a:endParaRPr lang="en-US" sz="950" dirty="0"/>
          </a:p>
        </p:txBody>
      </p:sp>
      <p:pic>
        <p:nvPicPr>
          <p:cNvPr id="19" name="icon_1_generated" descr="growth_chart.png"/>
          <p:cNvPicPr>
            <a:picLocks noChangeAspect="1"/>
          </p:cNvPicPr>
          <p:nvPr/>
        </p:nvPicPr>
        <p:blipFill>
          <a:blip r:embed="rId3"/>
          <a:stretch>
            <a:fillRect/>
          </a:stretch>
        </p:blipFill>
        <p:spPr>
          <a:xfrm>
            <a:off x="10058400" y="3886200"/>
            <a:ext cx="1581912" cy="15819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_2"/>
          <p:cNvSpPr txBox="1"/>
          <p:nvPr/>
        </p:nvSpPr>
        <p:spPr>
          <a:xfrm>
            <a:off x="548640" y="365760"/>
            <a:ext cx="11091672" cy="868680"/>
          </a:xfrm>
          <a:prstGeom prst="rect">
            <a:avLst/>
          </a:prstGeom>
          <a:noFill/>
          <a:ln/>
        </p:spPr>
        <p:txBody>
          <a:bodyPr wrap="square" lIns="0" tIns="0" rIns="0" bIns="0" rtlCol="0" anchor="t"/>
          <a:lstStyle/>
          <a:p>
            <a:pPr algn="l" indent="0" marL="0">
              <a:buNone/>
            </a:pPr>
            <a:r>
              <a:rPr sz="2200" b="1">
                <a:solidFill>
                  <a:srgbClr val="191F37"/>
                </a:solidFill>
              </a:rPr>
              <a:t>APAC Leads Growth as Latin America Revenue Falls Further</a:t>
            </a:r>
            <a:endParaRPr lang="en-US" sz="2400" dirty="0"/>
          </a:p>
        </p:txBody>
      </p:sp>
      <p:sp>
        <p:nvSpPr>
          <p:cNvPr id="5" name="insights_performance"/>
          <p:cNvSpPr txBox="1"/>
          <p:nvPr/>
        </p:nvSpPr>
        <p:spPr>
          <a:xfrm>
            <a:off x="7543800" y="1417320"/>
            <a:ext cx="4096512" cy="3474720"/>
          </a:xfrm>
          <a:prstGeom prst="rect">
            <a:avLst/>
          </a:prstGeom>
          <a:noFill/>
          <a:ln/>
        </p:spPr>
        <p:txBody>
          <a:bodyPr wrap="square" lIns="0" tIns="0" rIns="0" bIns="0" rtlCol="0" anchor="t"/>
          <a:lstStyle/>
          <a:p>
            <a:pPr algn="l" indent="0" marL="0">
              <a:lnSpc>
                <a:spcPct val="105000"/>
              </a:lnSpc>
              <a:spcAft>
                <a:spcPts val="800"/>
              </a:spcAft>
              <a:buNone/>
            </a:pPr>
            <a:r>
              <a:rPr sz="1400">
                <a:solidFill>
                  <a:srgbClr val="191F37"/>
                </a:solidFill>
              </a:rPr>
              <a:t>• Total Q2 revenue reached $1.28B, up 4.5% QoQ.</a:t>
            </a:r>
            <a:endParaRPr lang="en-US" sz="1350" dirty="0"/>
          </a:p>
          <a:p>
            <a:pPr>
              <a:lnSpc>
                <a:spcPct val="105000"/>
              </a:lnSpc>
              <a:spcAft>
                <a:spcPts val="800"/>
              </a:spcAft>
            </a:pPr>
            <a:r>
              <a:rPr sz="1400">
                <a:solidFill>
                  <a:srgbClr val="191F37"/>
                </a:solidFill>
              </a:rPr>
              <a:t>• APAC revenue increased from $260M to $330M.</a:t>
            </a:r>
          </a:p>
          <a:p>
            <a:pPr>
              <a:lnSpc>
                <a:spcPct val="105000"/>
              </a:lnSpc>
              <a:spcAft>
                <a:spcPts val="800"/>
              </a:spcAft>
            </a:pPr>
            <a:r>
              <a:rPr sz="1400">
                <a:solidFill>
                  <a:srgbClr val="191F37"/>
                </a:solidFill>
              </a:rPr>
              <a:t>• North America remained the largest region at $465M.</a:t>
            </a:r>
          </a:p>
          <a:p>
            <a:pPr>
              <a:lnSpc>
                <a:spcPct val="105000"/>
              </a:lnSpc>
              <a:spcAft>
                <a:spcPts val="800"/>
              </a:spcAft>
            </a:pPr>
            <a:r>
              <a:rPr sz="1400">
                <a:solidFill>
                  <a:srgbClr val="191F37"/>
                </a:solidFill>
              </a:rPr>
              <a:t>• Latin America fell to $140M as returns increased to 8.2%.</a:t>
            </a:r>
          </a:p>
        </p:txBody>
      </p:sp>
      <p:sp>
        <p:nvSpPr>
          <p:cNvPr id="8" name="footer_2"/>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2"/>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5B6B8C"/>
                </a:solidFill>
                <a:latin typeface="Calibri" pitchFamily="34" charset="0"/>
                <a:ea typeface="Calibri" pitchFamily="34" charset="-122"/>
                <a:cs typeface="Calibri" pitchFamily="34" charset="-120"/>
              </a:rPr>
              <a:t>2</a:t>
            </a:r>
            <a:endParaRPr lang="en-US" sz="950" dirty="0"/>
          </a:p>
        </p:txBody>
      </p:sp>
      <p:pic>
        <p:nvPicPr>
          <p:cNvPr id="10" name="chart_performance_generated" descr="performance_chart.png"/>
          <p:cNvPicPr>
            <a:picLocks noChangeAspect="1"/>
          </p:cNvPicPr>
          <p:nvPr/>
        </p:nvPicPr>
        <p:blipFill>
          <a:blip r:embed="rId3"/>
          <a:stretch>
            <a:fillRect/>
          </a:stretch>
        </p:blipFill>
        <p:spPr>
          <a:xfrm>
            <a:off x="548640" y="1417320"/>
            <a:ext cx="6675120" cy="4800600"/>
          </a:xfrm>
          <a:prstGeom prst="rect">
            <a:avLst/>
          </a:prstGeom>
        </p:spPr>
      </p:pic>
      <p:pic>
        <p:nvPicPr>
          <p:cNvPr id="11" name="icon_2_generated" descr="globe_region.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_3"/>
          <p:cNvSpPr txBox="1"/>
          <p:nvPr/>
        </p:nvSpPr>
        <p:spPr>
          <a:xfrm>
            <a:off x="548640" y="365760"/>
            <a:ext cx="11091672" cy="868680"/>
          </a:xfrm>
          <a:prstGeom prst="rect">
            <a:avLst/>
          </a:prstGeom>
          <a:noFill/>
          <a:ln/>
        </p:spPr>
        <p:txBody>
          <a:bodyPr wrap="square" lIns="0" tIns="0" rIns="0" bIns="0" rtlCol="0" anchor="t"/>
          <a:lstStyle/>
          <a:p>
            <a:pPr algn="l" indent="0" marL="0">
              <a:buNone/>
            </a:pPr>
            <a:r>
              <a:rPr sz="2200" b="1">
                <a:solidFill>
                  <a:srgbClr val="191F37"/>
                </a:solidFill>
              </a:rPr>
              <a:t>Latin America Customer Experience Deteriorates as APAC Extends Its Lead</a:t>
            </a:r>
            <a:endParaRPr lang="en-US" sz="2400" dirty="0"/>
          </a:p>
        </p:txBody>
      </p:sp>
      <p:sp>
        <p:nvSpPr>
          <p:cNvPr id="5" name="insights_customer"/>
          <p:cNvSpPr txBox="1"/>
          <p:nvPr/>
        </p:nvSpPr>
        <p:spPr>
          <a:xfrm>
            <a:off x="7543800" y="1417320"/>
            <a:ext cx="4096512" cy="3474720"/>
          </a:xfrm>
          <a:prstGeom prst="rect">
            <a:avLst/>
          </a:prstGeom>
          <a:noFill/>
          <a:ln/>
        </p:spPr>
        <p:txBody>
          <a:bodyPr wrap="square" lIns="0" tIns="0" rIns="0" bIns="0" rtlCol="0" anchor="t"/>
          <a:lstStyle/>
          <a:p>
            <a:pPr algn="l" indent="0" marL="0">
              <a:lnSpc>
                <a:spcPct val="105000"/>
              </a:lnSpc>
              <a:spcAft>
                <a:spcPts val="800"/>
              </a:spcAft>
              <a:buNone/>
            </a:pPr>
            <a:r>
              <a:rPr sz="1400">
                <a:solidFill>
                  <a:srgbClr val="191F37"/>
                </a:solidFill>
              </a:rPr>
              <a:t>• APAC achieved the highest Q2 NPS at 62.</a:t>
            </a:r>
            <a:endParaRPr lang="en-US" sz="1350" dirty="0"/>
          </a:p>
          <a:p>
            <a:pPr>
              <a:lnSpc>
                <a:spcPct val="105000"/>
              </a:lnSpc>
              <a:spcAft>
                <a:spcPts val="800"/>
              </a:spcAft>
            </a:pPr>
            <a:r>
              <a:rPr sz="1400">
                <a:solidFill>
                  <a:srgbClr val="191F37"/>
                </a:solidFill>
              </a:rPr>
              <a:t>• APAC delivery performance improved to 2.2 days.</a:t>
            </a:r>
          </a:p>
          <a:p>
            <a:pPr>
              <a:lnSpc>
                <a:spcPct val="105000"/>
              </a:lnSpc>
              <a:spcAft>
                <a:spcPts val="800"/>
              </a:spcAft>
            </a:pPr>
            <a:r>
              <a:rPr sz="1400">
                <a:solidFill>
                  <a:srgbClr val="191F37"/>
                </a:solidFill>
              </a:rPr>
              <a:t>• Latin America NPS fell from 38 to 29.</a:t>
            </a:r>
          </a:p>
          <a:p>
            <a:pPr>
              <a:lnSpc>
                <a:spcPct val="105000"/>
              </a:lnSpc>
              <a:spcAft>
                <a:spcPts val="800"/>
              </a:spcAft>
            </a:pPr>
            <a:r>
              <a:rPr sz="1400">
                <a:solidFill>
                  <a:srgbClr val="191F37"/>
                </a:solidFill>
              </a:rPr>
              <a:t>• Latin America tickets climbed to 31K as delivery reached 7.5 days.</a:t>
            </a:r>
          </a:p>
        </p:txBody>
      </p:sp>
      <p:sp>
        <p:nvSpPr>
          <p:cNvPr id="8" name="footer_3"/>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3"/>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5B6B8C"/>
                </a:solidFill>
                <a:latin typeface="Calibri" pitchFamily="34" charset="0"/>
                <a:ea typeface="Calibri" pitchFamily="34" charset="-122"/>
                <a:cs typeface="Calibri" pitchFamily="34" charset="-120"/>
              </a:rPr>
              <a:t>3</a:t>
            </a:r>
            <a:endParaRPr lang="en-US" sz="950" dirty="0"/>
          </a:p>
        </p:txBody>
      </p:sp>
      <p:pic>
        <p:nvPicPr>
          <p:cNvPr id="10" name="chart_customer_generated" descr="customer_chart.png"/>
          <p:cNvPicPr>
            <a:picLocks noChangeAspect="1"/>
          </p:cNvPicPr>
          <p:nvPr/>
        </p:nvPicPr>
        <p:blipFill>
          <a:blip r:embed="rId3"/>
          <a:stretch>
            <a:fillRect/>
          </a:stretch>
        </p:blipFill>
        <p:spPr>
          <a:xfrm>
            <a:off x="548640" y="1417320"/>
            <a:ext cx="6675120" cy="4800600"/>
          </a:xfrm>
          <a:prstGeom prst="rect">
            <a:avLst/>
          </a:prstGeom>
        </p:spPr>
      </p:pic>
      <p:pic>
        <p:nvPicPr>
          <p:cNvPr id="11" name="icon_3_generated" descr="customer_star.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_4"/>
          <p:cNvSpPr txBox="1"/>
          <p:nvPr/>
        </p:nvSpPr>
        <p:spPr>
          <a:xfrm>
            <a:off x="548640" y="365760"/>
            <a:ext cx="11091672" cy="868680"/>
          </a:xfrm>
          <a:prstGeom prst="rect">
            <a:avLst/>
          </a:prstGeom>
          <a:noFill/>
          <a:ln/>
        </p:spPr>
        <p:txBody>
          <a:bodyPr wrap="square" lIns="0" tIns="0" rIns="0" bIns="0" rtlCol="0" anchor="t"/>
          <a:lstStyle/>
          <a:p>
            <a:pPr algn="l" indent="0" marL="0">
              <a:buNone/>
            </a:pPr>
            <a:r>
              <a:rPr sz="2200" b="1">
                <a:solidFill>
                  <a:srgbClr val="191F37"/>
                </a:solidFill>
              </a:rPr>
              <a:t>Latin America Risk Escalates While APAC Nears Capacity Limits</a:t>
            </a:r>
            <a:endParaRPr lang="en-US" sz="2400" dirty="0"/>
          </a:p>
        </p:txBody>
      </p:sp>
      <p:sp>
        <p:nvSpPr>
          <p:cNvPr id="5" name="insights_risk"/>
          <p:cNvSpPr txBox="1"/>
          <p:nvPr/>
        </p:nvSpPr>
        <p:spPr>
          <a:xfrm>
            <a:off x="7543800" y="1417320"/>
            <a:ext cx="4096512" cy="3474720"/>
          </a:xfrm>
          <a:prstGeom prst="rect">
            <a:avLst/>
          </a:prstGeom>
          <a:noFill/>
          <a:ln/>
        </p:spPr>
        <p:txBody>
          <a:bodyPr wrap="square" lIns="0" tIns="0" rIns="0" bIns="0" rtlCol="0" anchor="t"/>
          <a:lstStyle/>
          <a:p>
            <a:pPr algn="l" indent="0" marL="0">
              <a:lnSpc>
                <a:spcPct val="105000"/>
              </a:lnSpc>
              <a:spcAft>
                <a:spcPts val="800"/>
              </a:spcAft>
              <a:buNone/>
            </a:pPr>
            <a:r>
              <a:rPr sz="1400">
                <a:solidFill>
                  <a:srgbClr val="191F37"/>
                </a:solidFill>
              </a:rPr>
              <a:t>• Latin America stockouts reached 12.5% in Q2.</a:t>
            </a:r>
            <a:endParaRPr lang="en-US" sz="1350" dirty="0"/>
          </a:p>
          <a:p>
            <a:pPr>
              <a:lnSpc>
                <a:spcPct val="105000"/>
              </a:lnSpc>
              <a:spcAft>
                <a:spcPts val="800"/>
              </a:spcAft>
            </a:pPr>
            <a:r>
              <a:rPr sz="1400">
                <a:solidFill>
                  <a:srgbClr val="191F37"/>
                </a:solidFill>
              </a:rPr>
              <a:t>• Fraud incidents in Latin America increased from 18 to 30.</a:t>
            </a:r>
          </a:p>
          <a:p>
            <a:pPr>
              <a:lnSpc>
                <a:spcPct val="105000"/>
              </a:lnSpc>
              <a:spcAft>
                <a:spcPts val="800"/>
              </a:spcAft>
            </a:pPr>
            <a:r>
              <a:rPr sz="1400">
                <a:solidFill>
                  <a:srgbClr val="191F37"/>
                </a:solidFill>
              </a:rPr>
              <a:t>• Latin America return processing increased to 10 days.</a:t>
            </a:r>
          </a:p>
          <a:p>
            <a:pPr>
              <a:lnSpc>
                <a:spcPct val="105000"/>
              </a:lnSpc>
              <a:spcAft>
                <a:spcPts val="800"/>
              </a:spcAft>
            </a:pPr>
            <a:r>
              <a:rPr sz="1400">
                <a:solidFill>
                  <a:srgbClr val="191F37"/>
                </a:solidFill>
              </a:rPr>
              <a:t>• APAC warehouse utilization reached a critical 92%.</a:t>
            </a:r>
          </a:p>
        </p:txBody>
      </p:sp>
      <p:sp>
        <p:nvSpPr>
          <p:cNvPr id="8" name="footer_4"/>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4"/>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5B6B8C"/>
                </a:solidFill>
                <a:latin typeface="Calibri" pitchFamily="34" charset="0"/>
                <a:ea typeface="Calibri" pitchFamily="34" charset="-122"/>
                <a:cs typeface="Calibri" pitchFamily="34" charset="-120"/>
              </a:rPr>
              <a:t>4</a:t>
            </a:r>
            <a:endParaRPr lang="en-US" sz="950" dirty="0"/>
          </a:p>
        </p:txBody>
      </p:sp>
      <p:pic>
        <p:nvPicPr>
          <p:cNvPr id="10" name="chart_risk_generated" descr="risk_chart.png"/>
          <p:cNvPicPr>
            <a:picLocks noChangeAspect="1"/>
          </p:cNvPicPr>
          <p:nvPr/>
        </p:nvPicPr>
        <p:blipFill>
          <a:blip r:embed="rId3"/>
          <a:stretch>
            <a:fillRect/>
          </a:stretch>
        </p:blipFill>
        <p:spPr>
          <a:xfrm>
            <a:off x="548640" y="1417320"/>
            <a:ext cx="6675120" cy="4800600"/>
          </a:xfrm>
          <a:prstGeom prst="rect">
            <a:avLst/>
          </a:prstGeom>
        </p:spPr>
      </p:pic>
      <p:pic>
        <p:nvPicPr>
          <p:cNvPr id="11" name="icon_4_generated" descr="risk_alert.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itle_5"/>
          <p:cNvSpPr txBox="1"/>
          <p:nvPr/>
        </p:nvSpPr>
        <p:spPr>
          <a:xfrm>
            <a:off x="548640" y="457200"/>
            <a:ext cx="11091672" cy="731520"/>
          </a:xfrm>
          <a:prstGeom prst="rect">
            <a:avLst/>
          </a:prstGeom>
          <a:noFill/>
          <a:ln/>
        </p:spPr>
        <p:txBody>
          <a:bodyPr wrap="square" lIns="0" tIns="0" rIns="0" bIns="0" rtlCol="0" anchor="ctr"/>
          <a:lstStyle/>
          <a:p>
            <a:pPr algn="l" indent="0" marL="0">
              <a:buNone/>
            </a:pPr>
            <a:r>
              <a:rPr sz="2200" b="1">
                <a:solidFill>
                  <a:srgbClr val="FFFFFF"/>
                </a:solidFill>
              </a:rPr>
              <a:t>Recommended Actions and Executive Priorities</a:t>
            </a:r>
            <a:endParaRPr lang="en-US" sz="2800" dirty="0"/>
          </a:p>
        </p:txBody>
      </p:sp>
      <p:sp>
        <p:nvSpPr>
          <p:cNvPr id="3" name="recommendations_text"/>
          <p:cNvSpPr txBox="1"/>
          <p:nvPr/>
        </p:nvSpPr>
        <p:spPr>
          <a:xfrm>
            <a:off x="548640" y="1463040"/>
            <a:ext cx="6675120" cy="4206240"/>
          </a:xfrm>
          <a:prstGeom prst="rect">
            <a:avLst/>
          </a:prstGeom>
          <a:noFill/>
          <a:ln/>
        </p:spPr>
        <p:txBody>
          <a:bodyPr wrap="square" lIns="0" tIns="0" rIns="0" bIns="0" rtlCol="0" anchor="t"/>
          <a:lstStyle/>
          <a:p>
            <a:pPr algn="l" indent="0" marL="0">
              <a:lnSpc>
                <a:spcPct val="105000"/>
              </a:lnSpc>
              <a:spcAft>
                <a:spcPts val="800"/>
              </a:spcAft>
              <a:buNone/>
            </a:pPr>
            <a:r>
              <a:rPr sz="1400">
                <a:solidFill>
                  <a:srgbClr val="E6EAF5"/>
                </a:solidFill>
              </a:rPr>
              <a:t>• Stabilize Latin America operations through a cross-functional recovery plan.</a:t>
            </a:r>
            <a:endParaRPr lang="en-US" sz="1600" dirty="0"/>
          </a:p>
          <a:p>
            <a:pPr>
              <a:lnSpc>
                <a:spcPct val="105000"/>
              </a:lnSpc>
              <a:spcAft>
                <a:spcPts val="800"/>
              </a:spcAft>
            </a:pPr>
            <a:r>
              <a:rPr sz="1400">
                <a:solidFill>
                  <a:srgbClr val="E6EAF5"/>
                </a:solidFill>
              </a:rPr>
              <a:t>• Expand APAC warehouse and fulfillment capacity ahead of future demand.</a:t>
            </a:r>
          </a:p>
          <a:p>
            <a:pPr>
              <a:lnSpc>
                <a:spcPct val="105000"/>
              </a:lnSpc>
              <a:spcAft>
                <a:spcPts val="800"/>
              </a:spcAft>
            </a:pPr>
            <a:r>
              <a:rPr sz="1400">
                <a:solidFill>
                  <a:srgbClr val="E6EAF5"/>
                </a:solidFill>
              </a:rPr>
              <a:t>• Replicate APAC delivery practices across lower-performing regions.</a:t>
            </a:r>
          </a:p>
          <a:p>
            <a:pPr>
              <a:lnSpc>
                <a:spcPct val="105000"/>
              </a:lnSpc>
              <a:spcAft>
                <a:spcPts val="800"/>
              </a:spcAft>
            </a:pPr>
            <a:r>
              <a:rPr sz="1400">
                <a:solidFill>
                  <a:srgbClr val="E6EAF5"/>
                </a:solidFill>
              </a:rPr>
              <a:t>• Introduce monthly alerts for stockouts, NPS, fraud and capacity utilization.</a:t>
            </a:r>
          </a:p>
        </p:txBody>
      </p:sp>
      <p:sp>
        <p:nvSpPr>
          <p:cNvPr id="5" name="icon_5_label"/>
          <p:cNvSpPr txBox="1"/>
          <p:nvPr/>
        </p:nvSpPr>
        <p:spPr>
          <a:xfrm>
            <a:off x="7726680" y="1627632"/>
            <a:ext cx="1188720" cy="1133856"/>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ICON
</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Pick the icon for</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action / recommendation</a:t>
            </a:r>
            <a:endParaRPr lang="en-US" sz="1300" dirty="0"/>
          </a:p>
        </p:txBody>
      </p:sp>
      <p:sp>
        <p:nvSpPr>
          <p:cNvPr id="6" name="closing_statement"/>
          <p:cNvSpPr txBox="1"/>
          <p:nvPr/>
        </p:nvSpPr>
        <p:spPr>
          <a:xfrm>
            <a:off x="548640" y="5897880"/>
            <a:ext cx="9235440" cy="457200"/>
          </a:xfrm>
          <a:prstGeom prst="rect">
            <a:avLst/>
          </a:prstGeom>
          <a:noFill/>
          <a:ln/>
        </p:spPr>
        <p:txBody>
          <a:bodyPr wrap="square" lIns="0" tIns="0" rIns="0" bIns="0" rtlCol="0" anchor="t"/>
          <a:lstStyle/>
          <a:p>
            <a:pPr algn="l" indent="0" marL="0">
              <a:buNone/>
            </a:pPr>
            <a:r>
              <a:rPr sz="1500" b="1">
                <a:solidFill>
                  <a:srgbClr val="E6EAF5"/>
                </a:solidFill>
              </a:rPr>
              <a:t>Prioritize immediate operational recovery in Latin America while investing ahead of APAC's continued growth.</a:t>
            </a:r>
            <a:endParaRPr lang="en-US" sz="1400" dirty="0"/>
          </a:p>
        </p:txBody>
      </p:sp>
      <p:sp>
        <p:nvSpPr>
          <p:cNvPr id="7" name="footer_5"/>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9FB3E8"/>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8" name="page_num_5"/>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9FB3E8"/>
                </a:solidFill>
                <a:latin typeface="Calibri" pitchFamily="34" charset="0"/>
                <a:ea typeface="Calibri" pitchFamily="34" charset="-122"/>
                <a:cs typeface="Calibri" pitchFamily="34" charset="-120"/>
              </a:rPr>
              <a:t>5</a:t>
            </a:r>
            <a:endParaRPr lang="en-US" sz="950" dirty="0"/>
          </a:p>
        </p:txBody>
      </p:sp>
      <p:pic>
        <p:nvPicPr>
          <p:cNvPr id="9" name="icon_5_generated" descr="lightbulb_action.png"/>
          <p:cNvPicPr>
            <a:picLocks noChangeAspect="1"/>
          </p:cNvPicPr>
          <p:nvPr/>
        </p:nvPicPr>
        <p:blipFill>
          <a:blip r:embed="rId3"/>
          <a:stretch>
            <a:fillRect/>
          </a:stretch>
        </p:blipFill>
        <p:spPr>
          <a:xfrm>
            <a:off x="7589520" y="1463040"/>
            <a:ext cx="1463040" cy="1463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2026-10-05T14:35:45Z</dcterms:created>
  <dcterms:modified xsi:type="dcterms:W3CDTF">2026-10-05T14:35:45Z</dcterms:modified>
</cp:coreProperties>
</file>